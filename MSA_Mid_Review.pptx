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  <p:sldId id="264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F50FE2-3283-DD5F-1E64-B9EEE189BAFC}" v="11" dt="2025-08-17T06:56:39.9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4F50FE2-3283-DD5F-1E64-B9EEE189BAFC}"/>
    <pc:docChg chg="modSld">
      <pc:chgData name="Guest User" userId="" providerId="Windows Live" clId="Web-{D4F50FE2-3283-DD5F-1E64-B9EEE189BAFC}" dt="2025-08-17T06:56:39.977" v="4" actId="1076"/>
      <pc:docMkLst>
        <pc:docMk/>
      </pc:docMkLst>
      <pc:sldChg chg="modSp">
        <pc:chgData name="Guest User" userId="" providerId="Windows Live" clId="Web-{D4F50FE2-3283-DD5F-1E64-B9EEE189BAFC}" dt="2025-08-17T06:56:39.977" v="4" actId="1076"/>
        <pc:sldMkLst>
          <pc:docMk/>
          <pc:sldMk cId="1026014990" sldId="256"/>
        </pc:sldMkLst>
        <pc:spChg chg="mod">
          <ac:chgData name="Guest User" userId="" providerId="Windows Live" clId="Web-{D4F50FE2-3283-DD5F-1E64-B9EEE189BAFC}" dt="2025-08-17T06:56:39.977" v="4" actId="1076"/>
          <ac:spMkLst>
            <pc:docMk/>
            <pc:sldMk cId="1026014990" sldId="256"/>
            <ac:spMk id="8" creationId="{559C3C9E-820D-1712-62DE-AC97503C0429}"/>
          </ac:spMkLst>
        </pc:spChg>
      </pc:sldChg>
      <pc:sldChg chg="modSp">
        <pc:chgData name="Guest User" userId="" providerId="Windows Live" clId="Web-{D4F50FE2-3283-DD5F-1E64-B9EEE189BAFC}" dt="2025-08-17T06:54:14.539" v="1" actId="20577"/>
        <pc:sldMkLst>
          <pc:docMk/>
          <pc:sldMk cId="2582351078" sldId="262"/>
        </pc:sldMkLst>
        <pc:spChg chg="mod">
          <ac:chgData name="Guest User" userId="" providerId="Windows Live" clId="Web-{D4F50FE2-3283-DD5F-1E64-B9EEE189BAFC}" dt="2025-08-17T06:54:14.539" v="1" actId="20577"/>
          <ac:spMkLst>
            <pc:docMk/>
            <pc:sldMk cId="2582351078" sldId="262"/>
            <ac:spMk id="6" creationId="{8D6EBDD4-D302-E19C-E9B2-40AD3DB898C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dirty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dirty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dirty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dirty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dirty="0"/>
              <a:t>8/16/2025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dirty="0"/>
              <a:t>8/16/2025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dirty="0"/>
              <a:t>8/16/2025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271A48-F18A-45B3-BC05-1E27DA3F88AF}" type="datetimeFigureOut">
              <a:rPr lang="en-US" dirty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dirty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dirty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dirty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C5B261-8843-42D1-AAFC-05E20E2D9B97}" type="datetimeFigureOut">
              <a:rPr lang="en-US" dirty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>
            <a:extLst>
              <a:ext uri="{FF2B5EF4-FFF2-40B4-BE49-F238E27FC236}">
                <a16:creationId xmlns:a16="http://schemas.microsoft.com/office/drawing/2014/main" id="{BA954AA6-157D-6636-F270-060ADB2A1D3D}"/>
              </a:ext>
            </a:extLst>
          </p:cNvPr>
          <p:cNvSpPr/>
          <p:nvPr/>
        </p:nvSpPr>
        <p:spPr>
          <a:xfrm>
            <a:off x="3608439" y="66356"/>
            <a:ext cx="4368050" cy="1088487"/>
          </a:xfrm>
          <a:custGeom>
            <a:avLst/>
            <a:gdLst/>
            <a:ahLst/>
            <a:cxnLst/>
            <a:rect l="l" t="t" r="r" b="b"/>
            <a:pathLst>
              <a:path w="7483371" h="1532318">
                <a:moveTo>
                  <a:pt x="0" y="0"/>
                </a:moveTo>
                <a:lnTo>
                  <a:pt x="7483371" y="0"/>
                </a:lnTo>
                <a:lnTo>
                  <a:pt x="7483371" y="1532318"/>
                </a:lnTo>
                <a:lnTo>
                  <a:pt x="0" y="1532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487" b="-13487"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1AF9E1-E1FA-B7AF-7B6C-AE2E1C61AC64}"/>
              </a:ext>
            </a:extLst>
          </p:cNvPr>
          <p:cNvSpPr txBox="1"/>
          <p:nvPr/>
        </p:nvSpPr>
        <p:spPr>
          <a:xfrm>
            <a:off x="3546918" y="1237453"/>
            <a:ext cx="5154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A4123F"/>
                </a:solidFill>
                <a:latin typeface="Canva Sans"/>
                <a:ea typeface="Canva Sans"/>
                <a:cs typeface="Canva Sans"/>
                <a:sym typeface="Canva Sans"/>
              </a:rPr>
              <a:t>SCHOOL OF ARTIFICIAL INTELLIGENCE​</a:t>
            </a:r>
          </a:p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9C3C9E-820D-1712-62DE-AC97503C0429}"/>
              </a:ext>
            </a:extLst>
          </p:cNvPr>
          <p:cNvSpPr txBox="1"/>
          <p:nvPr/>
        </p:nvSpPr>
        <p:spPr>
          <a:xfrm>
            <a:off x="7117924" y="4196091"/>
            <a:ext cx="4828270" cy="2320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>
                <a:solidFill>
                  <a:srgbClr val="6E4823"/>
                </a:solidFill>
                <a:latin typeface="Aptos Display" panose="020B0004020202020204" pitchFamily="34" charset="0"/>
                <a:ea typeface="Unna"/>
                <a:cs typeface="Unna"/>
                <a:sym typeface="Unna"/>
              </a:rPr>
              <a:t>1.Pranav Kumar Reddy   –      CB.AI.U4AID24069</a:t>
            </a:r>
          </a:p>
          <a:p>
            <a:pPr>
              <a:lnSpc>
                <a:spcPts val="4480"/>
              </a:lnSpc>
            </a:pPr>
            <a:r>
              <a:rPr lang="en-US">
                <a:solidFill>
                  <a:srgbClr val="6E4823"/>
                </a:solidFill>
                <a:latin typeface="Aptos Display" panose="020B0004020202020204" pitchFamily="34" charset="0"/>
                <a:ea typeface="Unna"/>
                <a:cs typeface="Unna"/>
                <a:sym typeface="Unna"/>
              </a:rPr>
              <a:t>2.Rajesh Kumar Reddy   –      CB.AI.U4AID24067</a:t>
            </a:r>
          </a:p>
          <a:p>
            <a:pPr>
              <a:lnSpc>
                <a:spcPts val="4480"/>
              </a:lnSpc>
            </a:pPr>
            <a:r>
              <a:rPr lang="en-US">
                <a:solidFill>
                  <a:srgbClr val="6E4823"/>
                </a:solidFill>
                <a:latin typeface="Aptos Display" panose="020B0004020202020204" pitchFamily="34" charset="0"/>
                <a:ea typeface="Unna"/>
                <a:cs typeface="Unna"/>
                <a:sym typeface="Unna"/>
              </a:rPr>
              <a:t>3.Dheeraj kumar                –       CB.AI.U4AID24015</a:t>
            </a:r>
          </a:p>
          <a:p>
            <a:pPr>
              <a:lnSpc>
                <a:spcPts val="4480"/>
              </a:lnSpc>
            </a:pPr>
            <a:r>
              <a:rPr lang="en-US">
                <a:solidFill>
                  <a:srgbClr val="6E4823"/>
                </a:solidFill>
                <a:latin typeface="Aptos Display"/>
                <a:ea typeface="Unna"/>
                <a:cs typeface="Unna"/>
                <a:sym typeface="Unna"/>
              </a:rPr>
              <a:t>4.Lalith Sagar                      –       CB.AI.U4AID24009</a:t>
            </a:r>
            <a:endParaRPr lang="en-US">
              <a:solidFill>
                <a:srgbClr val="6E4823"/>
              </a:solidFill>
              <a:latin typeface="Aptos Display"/>
              <a:ea typeface="Unna"/>
              <a:cs typeface="Unn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D266DC-ED21-9B4E-F983-6B6883FEADF2}"/>
              </a:ext>
            </a:extLst>
          </p:cNvPr>
          <p:cNvSpPr txBox="1"/>
          <p:nvPr/>
        </p:nvSpPr>
        <p:spPr>
          <a:xfrm>
            <a:off x="4434348" y="2962863"/>
            <a:ext cx="7610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/>
              <a:t>Curse control in Cars</a:t>
            </a:r>
            <a:endParaRPr lang="en-IN" sz="2800" i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4068B2-DBFA-C578-FD11-17C1009F5475}"/>
              </a:ext>
            </a:extLst>
          </p:cNvPr>
          <p:cNvSpPr txBox="1"/>
          <p:nvPr/>
        </p:nvSpPr>
        <p:spPr>
          <a:xfrm>
            <a:off x="5062350" y="1797243"/>
            <a:ext cx="4111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>
                <a:solidFill>
                  <a:schemeClr val="accent5">
                    <a:lumMod val="75000"/>
                  </a:schemeClr>
                </a:solidFill>
              </a:rPr>
              <a:t>23AID201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36A787-4418-17BF-DBF3-028C15B2873A}"/>
              </a:ext>
            </a:extLst>
          </p:cNvPr>
          <p:cNvSpPr txBox="1"/>
          <p:nvPr/>
        </p:nvSpPr>
        <p:spPr>
          <a:xfrm>
            <a:off x="3608439" y="2320463"/>
            <a:ext cx="5154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>
                <a:solidFill>
                  <a:schemeClr val="accent5">
                    <a:lumMod val="75000"/>
                  </a:schemeClr>
                </a:solidFill>
              </a:rPr>
              <a:t>Modelling, Simulation &amp; Analysis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15FB08-CF90-17DC-C8E8-D88E6C3ABEA7}"/>
              </a:ext>
            </a:extLst>
          </p:cNvPr>
          <p:cNvSpPr txBox="1"/>
          <p:nvPr/>
        </p:nvSpPr>
        <p:spPr>
          <a:xfrm>
            <a:off x="8763069" y="3875902"/>
            <a:ext cx="2222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4">
                    <a:lumMod val="50000"/>
                  </a:schemeClr>
                </a:solidFill>
                <a:latin typeface="Unna"/>
                <a:ea typeface="Unna"/>
                <a:cs typeface="Unna"/>
                <a:sym typeface="Unna"/>
              </a:rPr>
              <a:t>GROUP - 01</a:t>
            </a:r>
          </a:p>
          <a:p>
            <a:endParaRPr lang="en-IN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7205A2-A0F9-343D-497A-42E3C2E11DA6}"/>
              </a:ext>
            </a:extLst>
          </p:cNvPr>
          <p:cNvSpPr txBox="1"/>
          <p:nvPr/>
        </p:nvSpPr>
        <p:spPr>
          <a:xfrm>
            <a:off x="11484077" y="6435213"/>
            <a:ext cx="560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26014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B51009-0274-3543-481F-D53AA217163F}"/>
              </a:ext>
            </a:extLst>
          </p:cNvPr>
          <p:cNvSpPr txBox="1"/>
          <p:nvPr/>
        </p:nvSpPr>
        <p:spPr>
          <a:xfrm>
            <a:off x="11484077" y="6435213"/>
            <a:ext cx="560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76EABB-6F3C-DEB1-AB27-4ADAFBEFDF0D}"/>
              </a:ext>
            </a:extLst>
          </p:cNvPr>
          <p:cNvSpPr txBox="1"/>
          <p:nvPr/>
        </p:nvSpPr>
        <p:spPr>
          <a:xfrm>
            <a:off x="4306529" y="609600"/>
            <a:ext cx="5948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/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A0A827-764D-5DDC-54FD-5973141A57CB}"/>
              </a:ext>
            </a:extLst>
          </p:cNvPr>
          <p:cNvSpPr txBox="1"/>
          <p:nvPr/>
        </p:nvSpPr>
        <p:spPr>
          <a:xfrm>
            <a:off x="1160206" y="2074606"/>
            <a:ext cx="1032387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Cruise control is a fundamental automotive technology that allows vehicles to maintain a </a:t>
            </a:r>
            <a:r>
              <a:rPr lang="en-US" altLang="en-US" sz="2400" b="1">
                <a:latin typeface="Arial" panose="020B0604020202020204" pitchFamily="34" charset="0"/>
              </a:rPr>
              <a:t>constant speed </a:t>
            </a:r>
            <a:r>
              <a:rPr lang="en-US" altLang="en-US" sz="2400">
                <a:latin typeface="Arial" panose="020B0604020202020204" pitchFamily="34" charset="0"/>
              </a:rPr>
              <a:t>without continuous driver input.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It improves driver comfort on highways, enhances fuel efficiency and reduces fatigue</a:t>
            </a:r>
            <a:r>
              <a:rPr lang="en-US" altLang="en-US">
                <a:latin typeface="Arial" panose="020B0604020202020204" pitchFamily="34" charset="0"/>
              </a:rPr>
              <a:t>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The evolution of cruise control demonstrates the growing importance of 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automation in transportation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380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23CD8-3F0D-0AC6-AAA6-2B2960719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86" y="-146017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IN" sz="3600" b="1">
                <a:solidFill>
                  <a:schemeClr val="tx1"/>
                </a:solidFill>
                <a:latin typeface="+mn-lt"/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4D8E0-B576-D28A-C264-1EBDEFE02C2E}"/>
              </a:ext>
            </a:extLst>
          </p:cNvPr>
          <p:cNvSpPr txBox="1"/>
          <p:nvPr/>
        </p:nvSpPr>
        <p:spPr>
          <a:xfrm>
            <a:off x="11484077" y="6435213"/>
            <a:ext cx="560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3</a:t>
            </a:r>
          </a:p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6EBDD4-D302-E19C-E9B2-40AD3DB898C8}"/>
              </a:ext>
            </a:extLst>
          </p:cNvPr>
          <p:cNvSpPr txBox="1"/>
          <p:nvPr/>
        </p:nvSpPr>
        <p:spPr>
          <a:xfrm>
            <a:off x="1066800" y="1877962"/>
            <a:ext cx="10299290" cy="443198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/>
                <a:cs typeface="Arial"/>
              </a:rPr>
              <a:t>To design and simulate a closed-loop cruise control system in </a:t>
            </a:r>
            <a:r>
              <a:rPr lang="en-US" altLang="en-US" sz="2400" b="1">
                <a:latin typeface="Arial"/>
                <a:cs typeface="Arial"/>
              </a:rPr>
              <a:t>MATLAB Simulink</a:t>
            </a:r>
            <a:r>
              <a:rPr lang="en-US" altLang="en-US" sz="2400">
                <a:latin typeface="Arial"/>
                <a:cs typeface="Arial"/>
              </a:rPr>
              <a:t>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To demonstrate how feedback control (PID/PI) can regulate vehicle speed under varying road and load conditions.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To simulate and analyze system response under different driving conditions, such as slopes, resistive forces, and load variations.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Simulating these in MATLAB/Simulink allows testing of controller robustness before implementation in hardware.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351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22DFF3-BD92-EEF1-0BBC-09B1C9914369}"/>
              </a:ext>
            </a:extLst>
          </p:cNvPr>
          <p:cNvSpPr txBox="1"/>
          <p:nvPr/>
        </p:nvSpPr>
        <p:spPr>
          <a:xfrm>
            <a:off x="4424515" y="560438"/>
            <a:ext cx="5545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/>
              <a:t>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6BCBE-2BB2-02E1-6A99-A5A15EFFC2B8}"/>
              </a:ext>
            </a:extLst>
          </p:cNvPr>
          <p:cNvSpPr txBox="1"/>
          <p:nvPr/>
        </p:nvSpPr>
        <p:spPr>
          <a:xfrm>
            <a:off x="11484077" y="6435213"/>
            <a:ext cx="560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C180CF-8D02-51F3-4113-81E38D838414}"/>
              </a:ext>
            </a:extLst>
          </p:cNvPr>
          <p:cNvSpPr txBox="1"/>
          <p:nvPr/>
        </p:nvSpPr>
        <p:spPr>
          <a:xfrm>
            <a:off x="1337187" y="1773247"/>
            <a:ext cx="932098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The vehicle is modeled as a </a:t>
            </a:r>
            <a:r>
              <a:rPr lang="en-US" altLang="en-US" sz="2400" b="1">
                <a:latin typeface="Arial" panose="020B0604020202020204" pitchFamily="34" charset="0"/>
              </a:rPr>
              <a:t>dynamic system</a:t>
            </a:r>
            <a:r>
              <a:rPr lang="en-US" altLang="en-US" sz="2400">
                <a:latin typeface="Arial" panose="020B0604020202020204" pitchFamily="34" charset="0"/>
              </a:rPr>
              <a:t> using Newton’s laws of motion.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A controller compares the actual vehicle speed with the desired speed (reference) and adjusts the throttle force accordingly.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Implemented in 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MATLAB Simulink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, which allows block-based modeling of plant dynamics, controller design and closed-loop simulation.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Disturbances such as road slope or drag force can be added to test system robustness</a:t>
            </a:r>
            <a:r>
              <a:rPr lang="en-US"/>
              <a:t>.</a:t>
            </a:r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365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9A73DF-432E-75B6-FB3D-E222894D1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040" y="572047"/>
            <a:ext cx="9788452" cy="24387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09BD57-AE26-9F18-2F65-37F23CC03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266" y="4384535"/>
            <a:ext cx="1781424" cy="11812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AF483F-0164-7396-F768-BCE911C6E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040" y="3909222"/>
            <a:ext cx="3558960" cy="22657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BA746F-C9E2-6A85-ACCE-A0A578A8B1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555" y="3842296"/>
            <a:ext cx="3558961" cy="2399602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268CDF96-4AE4-55DD-7D2B-555092F17E94}"/>
              </a:ext>
            </a:extLst>
          </p:cNvPr>
          <p:cNvSpPr/>
          <p:nvPr/>
        </p:nvSpPr>
        <p:spPr>
          <a:xfrm>
            <a:off x="2679133" y="3169953"/>
            <a:ext cx="540774" cy="580103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A1A403F-1D7D-6753-0895-783137408D85}"/>
              </a:ext>
            </a:extLst>
          </p:cNvPr>
          <p:cNvSpPr/>
          <p:nvPr/>
        </p:nvSpPr>
        <p:spPr>
          <a:xfrm>
            <a:off x="5071980" y="4753943"/>
            <a:ext cx="717754" cy="442451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B1E1F8-02C5-A241-FD4B-2C0AC1CCB172}"/>
              </a:ext>
            </a:extLst>
          </p:cNvPr>
          <p:cNvSpPr txBox="1"/>
          <p:nvPr/>
        </p:nvSpPr>
        <p:spPr>
          <a:xfrm>
            <a:off x="11484077" y="6435213"/>
            <a:ext cx="560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96390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106D6F6-DD33-DEAF-3E2E-FF245AFCC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50" y="274423"/>
            <a:ext cx="4896463" cy="25713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184B52-E04B-F534-EE85-BD61E0287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95" y="3532943"/>
            <a:ext cx="7440966" cy="16454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516D17-AA3E-CBAA-600D-BA71984AA41C}"/>
              </a:ext>
            </a:extLst>
          </p:cNvPr>
          <p:cNvSpPr txBox="1"/>
          <p:nvPr/>
        </p:nvSpPr>
        <p:spPr>
          <a:xfrm>
            <a:off x="11484077" y="6435213"/>
            <a:ext cx="560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A5806D-EB34-0693-61D7-8853CA09CE92}"/>
              </a:ext>
            </a:extLst>
          </p:cNvPr>
          <p:cNvSpPr txBox="1"/>
          <p:nvPr/>
        </p:nvSpPr>
        <p:spPr>
          <a:xfrm>
            <a:off x="6823589" y="932652"/>
            <a:ext cx="457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>
                <a:solidFill>
                  <a:schemeClr val="tx1">
                    <a:lumMod val="85000"/>
                    <a:lumOff val="15000"/>
                  </a:schemeClr>
                </a:solidFill>
              </a:rPr>
              <a:t>Mg- Force due to gravity.</a:t>
            </a:r>
          </a:p>
          <a:p>
            <a:r>
              <a:rPr lang="en-IN" sz="2400">
                <a:solidFill>
                  <a:schemeClr val="tx1">
                    <a:lumMod val="85000"/>
                    <a:lumOff val="15000"/>
                  </a:schemeClr>
                </a:solidFill>
              </a:rPr>
              <a:t>N- Normal Reaction.</a:t>
            </a:r>
          </a:p>
          <a:p>
            <a:r>
              <a:rPr lang="en-IN" sz="2400">
                <a:solidFill>
                  <a:schemeClr val="tx1">
                    <a:lumMod val="85000"/>
                    <a:lumOff val="15000"/>
                  </a:schemeClr>
                </a:solidFill>
              </a:rPr>
              <a:t>Fe- Engine Force.</a:t>
            </a:r>
          </a:p>
          <a:p>
            <a:r>
              <a:rPr lang="en-IN" sz="2400" err="1">
                <a:solidFill>
                  <a:schemeClr val="tx1">
                    <a:lumMod val="85000"/>
                    <a:lumOff val="15000"/>
                  </a:schemeClr>
                </a:solidFill>
              </a:rPr>
              <a:t>Fd</a:t>
            </a:r>
            <a:r>
              <a:rPr lang="en-IN" sz="2400">
                <a:solidFill>
                  <a:schemeClr val="tx1">
                    <a:lumMod val="85000"/>
                    <a:lumOff val="15000"/>
                  </a:schemeClr>
                </a:solidFill>
              </a:rPr>
              <a:t>- Drag Force.</a:t>
            </a:r>
          </a:p>
        </p:txBody>
      </p:sp>
    </p:spTree>
    <p:extLst>
      <p:ext uri="{BB962C8B-B14F-4D97-AF65-F5344CB8AC3E}">
        <p14:creationId xmlns:p14="http://schemas.microsoft.com/office/powerpoint/2010/main" val="120312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B9F923-C7FB-9F74-4DB5-1F9B5355E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156" y="448558"/>
            <a:ext cx="3107225" cy="20193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949FE8-43DB-DAA5-301F-66E64BDE4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58" y="334731"/>
            <a:ext cx="3991945" cy="44764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119DDF-6BD6-964C-3E00-C111684D7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913" y="3429000"/>
            <a:ext cx="4496275" cy="1346478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D73F9E68-F45E-5B9F-76A0-BBA298DE1F7A}"/>
              </a:ext>
            </a:extLst>
          </p:cNvPr>
          <p:cNvSpPr/>
          <p:nvPr/>
        </p:nvSpPr>
        <p:spPr>
          <a:xfrm>
            <a:off x="5204831" y="3881013"/>
            <a:ext cx="717754" cy="442451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8F9CF7-E9C5-960C-A264-CC4D1BF8DC8D}"/>
              </a:ext>
            </a:extLst>
          </p:cNvPr>
          <p:cNvSpPr txBox="1"/>
          <p:nvPr/>
        </p:nvSpPr>
        <p:spPr>
          <a:xfrm>
            <a:off x="11484077" y="6435213"/>
            <a:ext cx="560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C6C2DE-9F22-855D-46E0-32E9AC4C8DEF}"/>
              </a:ext>
            </a:extLst>
          </p:cNvPr>
          <p:cNvSpPr txBox="1"/>
          <p:nvPr/>
        </p:nvSpPr>
        <p:spPr>
          <a:xfrm>
            <a:off x="937630" y="5171768"/>
            <a:ext cx="9252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Vehicle dynamics are expressed as a </a:t>
            </a: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first-order differential equation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representing the balance between driving force, resistive forces, and inertia.</a:t>
            </a:r>
            <a:endParaRPr lang="en-IN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486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0EB9D7-8D0D-BE63-CB5D-A48C288FEACD}"/>
              </a:ext>
            </a:extLst>
          </p:cNvPr>
          <p:cNvSpPr txBox="1"/>
          <p:nvPr/>
        </p:nvSpPr>
        <p:spPr>
          <a:xfrm>
            <a:off x="4660490" y="656163"/>
            <a:ext cx="4689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/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6BBE6-BD05-77D6-AC0E-AAA1FF29A176}"/>
              </a:ext>
            </a:extLst>
          </p:cNvPr>
          <p:cNvSpPr txBox="1"/>
          <p:nvPr/>
        </p:nvSpPr>
        <p:spPr>
          <a:xfrm>
            <a:off x="11484077" y="6435213"/>
            <a:ext cx="560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E9D196-0452-C1C2-4DFE-0BF7D0C131EE}"/>
              </a:ext>
            </a:extLst>
          </p:cNvPr>
          <p:cNvSpPr txBox="1"/>
          <p:nvPr/>
        </p:nvSpPr>
        <p:spPr>
          <a:xfrm>
            <a:off x="1322438" y="1966452"/>
            <a:ext cx="95471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The system should be able to maintain the 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desired set speed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under different conditions and disturbance.</a:t>
            </a:r>
          </a:p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Disturbances such as road slope or drag force can be added to test system robustness.</a:t>
            </a:r>
            <a:endParaRPr lang="en-IN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694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E412B-6CC3-4A2C-3FA4-E74281A5C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3062" y="2799463"/>
            <a:ext cx="7928732" cy="1920021"/>
          </a:xfrm>
        </p:spPr>
        <p:txBody>
          <a:bodyPr>
            <a:normAutofit/>
          </a:bodyPr>
          <a:lstStyle/>
          <a:p>
            <a:r>
              <a:rPr lang="en-US" sz="6600" b="1">
                <a:solidFill>
                  <a:schemeClr val="accent4">
                    <a:lumMod val="50000"/>
                  </a:schemeClr>
                </a:solidFill>
                <a:latin typeface="Unna Bold"/>
                <a:ea typeface="Unna Bold"/>
                <a:cs typeface="Unna Bold"/>
                <a:sym typeface="Unna Bold"/>
              </a:rPr>
              <a:t>THANK YOU!!</a:t>
            </a:r>
          </a:p>
          <a:p>
            <a:endParaRPr lang="en-IN" sz="660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B4F2AB-6598-EFB5-2DAF-8EC3272D9816}"/>
              </a:ext>
            </a:extLst>
          </p:cNvPr>
          <p:cNvSpPr txBox="1"/>
          <p:nvPr/>
        </p:nvSpPr>
        <p:spPr>
          <a:xfrm>
            <a:off x="11484077" y="6435213"/>
            <a:ext cx="560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54083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Retrospect</vt:lpstr>
      <vt:lpstr>PowerPoint Presentation</vt:lpstr>
      <vt:lpstr>PowerPoint Presentation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pranav kumar reddy</dc:creator>
  <cp:revision>1</cp:revision>
  <dcterms:created xsi:type="dcterms:W3CDTF">2025-08-16T14:38:48Z</dcterms:created>
  <dcterms:modified xsi:type="dcterms:W3CDTF">2025-08-17T06:57:21Z</dcterms:modified>
</cp:coreProperties>
</file>